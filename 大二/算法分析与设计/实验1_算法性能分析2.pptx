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76" r:id="rId7"/>
    <p:sldId id="278" r:id="rId8"/>
    <p:sldId id="279" r:id="rId9"/>
    <p:sldId id="280" r:id="rId10"/>
    <p:sldId id="262" r:id="rId11"/>
    <p:sldId id="263" r:id="rId12"/>
    <p:sldId id="281" r:id="rId13"/>
    <p:sldId id="282" r:id="rId14"/>
    <p:sldId id="283" r:id="rId15"/>
    <p:sldId id="284" r:id="rId16"/>
    <p:sldId id="264" r:id="rId17"/>
    <p:sldId id="289" r:id="rId18"/>
    <p:sldId id="290" r:id="rId19"/>
    <p:sldId id="291" r:id="rId20"/>
    <p:sldId id="292" r:id="rId21"/>
    <p:sldId id="271" r:id="rId22"/>
    <p:sldId id="272" r:id="rId23"/>
    <p:sldId id="285" r:id="rId24"/>
    <p:sldId id="286" r:id="rId25"/>
    <p:sldId id="275" r:id="rId2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8" Type="http://schemas.openxmlformats.org/officeDocument/2006/relationships/slideLayout" Target="../slideLayouts/slideLayout7.xml"/><Relationship Id="rId57" Type="http://schemas.openxmlformats.org/officeDocument/2006/relationships/image" Target="../media/image57.png"/><Relationship Id="rId56" Type="http://schemas.openxmlformats.org/officeDocument/2006/relationships/image" Target="../media/image56.png"/><Relationship Id="rId55" Type="http://schemas.openxmlformats.org/officeDocument/2006/relationships/image" Target="../media/image55.png"/><Relationship Id="rId54" Type="http://schemas.openxmlformats.org/officeDocument/2006/relationships/image" Target="../media/image54.png"/><Relationship Id="rId53" Type="http://schemas.openxmlformats.org/officeDocument/2006/relationships/image" Target="../media/image53.png"/><Relationship Id="rId52" Type="http://schemas.openxmlformats.org/officeDocument/2006/relationships/image" Target="../media/image52.png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78.png"/><Relationship Id="rId20" Type="http://schemas.openxmlformats.org/officeDocument/2006/relationships/image" Target="../media/image77.png"/><Relationship Id="rId2" Type="http://schemas.openxmlformats.org/officeDocument/2006/relationships/image" Target="../media/image59.png"/><Relationship Id="rId19" Type="http://schemas.openxmlformats.org/officeDocument/2006/relationships/image" Target="../media/image76.png"/><Relationship Id="rId18" Type="http://schemas.openxmlformats.org/officeDocument/2006/relationships/image" Target="../media/image75.png"/><Relationship Id="rId17" Type="http://schemas.openxmlformats.org/officeDocument/2006/relationships/image" Target="../media/image74.png"/><Relationship Id="rId16" Type="http://schemas.openxmlformats.org/officeDocument/2006/relationships/image" Target="../media/image73.png"/><Relationship Id="rId15" Type="http://schemas.openxmlformats.org/officeDocument/2006/relationships/image" Target="../media/image72.png"/><Relationship Id="rId14" Type="http://schemas.openxmlformats.org/officeDocument/2006/relationships/image" Target="../media/image71.png"/><Relationship Id="rId13" Type="http://schemas.openxmlformats.org/officeDocument/2006/relationships/image" Target="../media/image70.png"/><Relationship Id="rId12" Type="http://schemas.openxmlformats.org/officeDocument/2006/relationships/image" Target="../media/image69.png"/><Relationship Id="rId11" Type="http://schemas.openxmlformats.org/officeDocument/2006/relationships/image" Target="../media/image68.png"/><Relationship Id="rId10" Type="http://schemas.openxmlformats.org/officeDocument/2006/relationships/image" Target="../media/image67.png"/><Relationship Id="rId1" Type="http://schemas.openxmlformats.org/officeDocument/2006/relationships/image" Target="../media/image58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3.png"/><Relationship Id="rId1" Type="http://schemas.openxmlformats.org/officeDocument/2006/relationships/image" Target="../media/image8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image" Target="../media/image8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01.png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.xml"/><Relationship Id="rId17" Type="http://schemas.openxmlformats.org/officeDocument/2006/relationships/image" Target="../media/image116.png"/><Relationship Id="rId16" Type="http://schemas.openxmlformats.org/officeDocument/2006/relationships/image" Target="../media/image115.png"/><Relationship Id="rId15" Type="http://schemas.openxmlformats.org/officeDocument/2006/relationships/image" Target="../media/image114.png"/><Relationship Id="rId14" Type="http://schemas.openxmlformats.org/officeDocument/2006/relationships/image" Target="../media/image113.png"/><Relationship Id="rId13" Type="http://schemas.openxmlformats.org/officeDocument/2006/relationships/image" Target="../media/image112.png"/><Relationship Id="rId12" Type="http://schemas.openxmlformats.org/officeDocument/2006/relationships/image" Target="../media/image111.png"/><Relationship Id="rId11" Type="http://schemas.openxmlformats.org/officeDocument/2006/relationships/image" Target="../media/image110.png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23.png"/><Relationship Id="rId23" Type="http://schemas.openxmlformats.org/officeDocument/2006/relationships/image" Target="../media/image122.png"/><Relationship Id="rId22" Type="http://schemas.openxmlformats.org/officeDocument/2006/relationships/image" Target="../media/image121.png"/><Relationship Id="rId21" Type="http://schemas.openxmlformats.org/officeDocument/2006/relationships/image" Target="../media/image116.png"/><Relationship Id="rId20" Type="http://schemas.openxmlformats.org/officeDocument/2006/relationships/image" Target="../media/image115.png"/><Relationship Id="rId2" Type="http://schemas.openxmlformats.org/officeDocument/2006/relationships/image" Target="../media/image101.png"/><Relationship Id="rId19" Type="http://schemas.openxmlformats.org/officeDocument/2006/relationships/image" Target="../media/image114.png"/><Relationship Id="rId18" Type="http://schemas.openxmlformats.org/officeDocument/2006/relationships/image" Target="../media/image113.png"/><Relationship Id="rId17" Type="http://schemas.openxmlformats.org/officeDocument/2006/relationships/image" Target="../media/image120.png"/><Relationship Id="rId16" Type="http://schemas.openxmlformats.org/officeDocument/2006/relationships/image" Target="../media/image119.png"/><Relationship Id="rId15" Type="http://schemas.openxmlformats.org/officeDocument/2006/relationships/image" Target="../media/image112.png"/><Relationship Id="rId14" Type="http://schemas.openxmlformats.org/officeDocument/2006/relationships/image" Target="../media/image118.png"/><Relationship Id="rId13" Type="http://schemas.openxmlformats.org/officeDocument/2006/relationships/image" Target="../media/image117.png"/><Relationship Id="rId12" Type="http://schemas.openxmlformats.org/officeDocument/2006/relationships/image" Target="../media/image111.png"/><Relationship Id="rId11" Type="http://schemas.openxmlformats.org/officeDocument/2006/relationships/image" Target="../media/image110.png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27.png"/><Relationship Id="rId20" Type="http://schemas.openxmlformats.org/officeDocument/2006/relationships/image" Target="../media/image126.png"/><Relationship Id="rId2" Type="http://schemas.openxmlformats.org/officeDocument/2006/relationships/image" Target="../media/image101.png"/><Relationship Id="rId19" Type="http://schemas.openxmlformats.org/officeDocument/2006/relationships/image" Target="../media/image125.png"/><Relationship Id="rId18" Type="http://schemas.openxmlformats.org/officeDocument/2006/relationships/image" Target="../media/image124.png"/><Relationship Id="rId17" Type="http://schemas.openxmlformats.org/officeDocument/2006/relationships/image" Target="../media/image116.png"/><Relationship Id="rId16" Type="http://schemas.openxmlformats.org/officeDocument/2006/relationships/image" Target="../media/image115.png"/><Relationship Id="rId15" Type="http://schemas.openxmlformats.org/officeDocument/2006/relationships/image" Target="../media/image114.png"/><Relationship Id="rId14" Type="http://schemas.openxmlformats.org/officeDocument/2006/relationships/image" Target="../media/image113.png"/><Relationship Id="rId13" Type="http://schemas.openxmlformats.org/officeDocument/2006/relationships/image" Target="../media/image112.png"/><Relationship Id="rId12" Type="http://schemas.openxmlformats.org/officeDocument/2006/relationships/image" Target="../media/image111.png"/><Relationship Id="rId11" Type="http://schemas.openxmlformats.org/officeDocument/2006/relationships/image" Target="../media/image110.png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36.png"/><Relationship Id="rId2" Type="http://schemas.openxmlformats.org/officeDocument/2006/relationships/image" Target="../media/image101.png"/><Relationship Id="rId19" Type="http://schemas.openxmlformats.org/officeDocument/2006/relationships/image" Target="../media/image135.png"/><Relationship Id="rId18" Type="http://schemas.openxmlformats.org/officeDocument/2006/relationships/image" Target="../media/image134.png"/><Relationship Id="rId17" Type="http://schemas.openxmlformats.org/officeDocument/2006/relationships/image" Target="../media/image133.png"/><Relationship Id="rId16" Type="http://schemas.openxmlformats.org/officeDocument/2006/relationships/image" Target="../media/image132.png"/><Relationship Id="rId15" Type="http://schemas.openxmlformats.org/officeDocument/2006/relationships/image" Target="../media/image131.png"/><Relationship Id="rId14" Type="http://schemas.openxmlformats.org/officeDocument/2006/relationships/image" Target="../media/image130.png"/><Relationship Id="rId13" Type="http://schemas.openxmlformats.org/officeDocument/2006/relationships/image" Target="../media/image129.png"/><Relationship Id="rId12" Type="http://schemas.openxmlformats.org/officeDocument/2006/relationships/image" Target="../media/image112.png"/><Relationship Id="rId11" Type="http://schemas.openxmlformats.org/officeDocument/2006/relationships/image" Target="../media/image128.png"/><Relationship Id="rId10" Type="http://schemas.openxmlformats.org/officeDocument/2006/relationships/image" Target="../media/image105.png"/><Relationship Id="rId1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png"/><Relationship Id="rId8" Type="http://schemas.openxmlformats.org/officeDocument/2006/relationships/image" Target="../media/image144.png"/><Relationship Id="rId7" Type="http://schemas.openxmlformats.org/officeDocument/2006/relationships/image" Target="../media/image143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28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46.png"/><Relationship Id="rId1" Type="http://schemas.openxmlformats.org/officeDocument/2006/relationships/image" Target="../media/image14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png"/><Relationship Id="rId8" Type="http://schemas.openxmlformats.org/officeDocument/2006/relationships/image" Target="../media/image144.png"/><Relationship Id="rId7" Type="http://schemas.openxmlformats.org/officeDocument/2006/relationships/image" Target="../media/image143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28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46.png"/><Relationship Id="rId1" Type="http://schemas.openxmlformats.org/officeDocument/2006/relationships/image" Target="../media/image14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png"/><Relationship Id="rId8" Type="http://schemas.openxmlformats.org/officeDocument/2006/relationships/image" Target="../media/image144.png"/><Relationship Id="rId7" Type="http://schemas.openxmlformats.org/officeDocument/2006/relationships/image" Target="../media/image143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128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46.png"/><Relationship Id="rId1" Type="http://schemas.openxmlformats.org/officeDocument/2006/relationships/image" Target="../media/image14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3.png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33100"/>
            <a:ext cx="9664700" cy="288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0"/>
            <a:ext cx="13144500" cy="137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100" y="0"/>
            <a:ext cx="12153900" cy="1371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137400" cy="4686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7700" y="4203700"/>
            <a:ext cx="266700" cy="279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7747000" cy="372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5143500"/>
            <a:ext cx="13779500" cy="142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8700" y="7277100"/>
            <a:ext cx="2349500" cy="533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3300" y="7264400"/>
            <a:ext cx="1612900" cy="106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7000" y="7505700"/>
            <a:ext cx="800100" cy="317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7493000"/>
            <a:ext cx="825500" cy="355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0500" y="7543800"/>
            <a:ext cx="723900" cy="101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60500" y="7594600"/>
            <a:ext cx="723900" cy="101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0500" y="7632700"/>
            <a:ext cx="723900" cy="101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82700" y="7251700"/>
            <a:ext cx="800100" cy="31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0000" y="7162800"/>
            <a:ext cx="825500" cy="419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92300" y="7239000"/>
            <a:ext cx="203200" cy="114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46200" y="7289800"/>
            <a:ext cx="723900" cy="101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46200" y="7340600"/>
            <a:ext cx="723900" cy="101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46200" y="7378700"/>
            <a:ext cx="723900" cy="101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46200" y="7429500"/>
            <a:ext cx="723900" cy="101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60500" y="7670800"/>
            <a:ext cx="723900" cy="101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92300" y="7175500"/>
            <a:ext cx="101600" cy="114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79600" y="7162800"/>
            <a:ext cx="101600" cy="101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28800" y="7162800"/>
            <a:ext cx="165100" cy="190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9753600"/>
            <a:ext cx="4940300" cy="3962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773900" y="2806700"/>
            <a:ext cx="4610100" cy="84709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852900" y="406400"/>
            <a:ext cx="6477000" cy="406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471400" y="3098800"/>
            <a:ext cx="10858500" cy="10617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055100" y="7239000"/>
            <a:ext cx="3644900" cy="558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80300" y="7175500"/>
            <a:ext cx="1066800" cy="736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80300" y="7175500"/>
            <a:ext cx="1066800" cy="228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80300" y="7175500"/>
            <a:ext cx="203200" cy="736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645400" y="7340600"/>
            <a:ext cx="241300" cy="1524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35900" y="7340600"/>
            <a:ext cx="241300" cy="152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013700" y="7340600"/>
            <a:ext cx="241300" cy="152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04200" y="7340600"/>
            <a:ext cx="241300" cy="1524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645400" y="7442200"/>
            <a:ext cx="241300" cy="152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35900" y="7442200"/>
            <a:ext cx="241300" cy="1524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13700" y="7442200"/>
            <a:ext cx="241300" cy="1524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204200" y="7442200"/>
            <a:ext cx="241300" cy="152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645400" y="7556500"/>
            <a:ext cx="241300" cy="152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835900" y="7556500"/>
            <a:ext cx="241300" cy="1524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013700" y="7556500"/>
            <a:ext cx="241300" cy="1524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204200" y="7556500"/>
            <a:ext cx="241300" cy="1524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645400" y="7658100"/>
            <a:ext cx="241300" cy="1524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835900" y="7658100"/>
            <a:ext cx="241300" cy="1524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013700" y="7658100"/>
            <a:ext cx="241300" cy="1524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204200" y="7658100"/>
            <a:ext cx="241300" cy="1524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797800" y="7175500"/>
            <a:ext cx="101600" cy="2159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988300" y="7175500"/>
            <a:ext cx="101600" cy="2159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166100" y="7175500"/>
            <a:ext cx="101600" cy="215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356600" y="7175500"/>
            <a:ext cx="101600" cy="2159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493000" y="7416800"/>
            <a:ext cx="165100" cy="1016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493000" y="7531100"/>
            <a:ext cx="165100" cy="1016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493000" y="7632700"/>
            <a:ext cx="1651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595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127000"/>
            <a:ext cx="5943600" cy="134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5918200"/>
            <a:ext cx="3009900" cy="138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300" y="7543800"/>
            <a:ext cx="4508500" cy="711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127000"/>
            <a:ext cx="18288000" cy="134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600" y="2946400"/>
            <a:ext cx="1917700" cy="194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3543300"/>
            <a:ext cx="393700" cy="736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9100" y="3594100"/>
            <a:ext cx="2374900" cy="635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6600" y="4787900"/>
            <a:ext cx="1917700" cy="1943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5100" y="5397500"/>
            <a:ext cx="622300" cy="736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79100" y="5435600"/>
            <a:ext cx="2387600" cy="635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6600" y="6629400"/>
            <a:ext cx="1917700" cy="1943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29700" y="7239000"/>
            <a:ext cx="635000" cy="736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79100" y="7289800"/>
            <a:ext cx="2400300" cy="635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6600" y="8483600"/>
            <a:ext cx="1917700" cy="1943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17000" y="9080500"/>
            <a:ext cx="660400" cy="736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91800" y="9144000"/>
            <a:ext cx="2908300" cy="736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243300" y="5270500"/>
            <a:ext cx="8140700" cy="844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9900"/>
            <a:ext cx="24384000" cy="308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384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3530600"/>
            <a:ext cx="5054600" cy="1018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5300" y="5816600"/>
            <a:ext cx="59817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96266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97663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900" y="96266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9700" y="9753600"/>
            <a:ext cx="381000" cy="46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3000" y="8610600"/>
            <a:ext cx="2794000" cy="4978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1000" y="1028700"/>
            <a:ext cx="2743200" cy="635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6001385" cy="196786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041400" y="2743200"/>
            <a:ext cx="11619865" cy="427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solidFill>
                  <a:schemeClr val="bg1"/>
                </a:solidFill>
              </a:rPr>
              <a:t>构建有序序列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对于未排序数据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在已排序序列中从后向前扫描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找到相应位置并插入</a:t>
            </a:r>
            <a:endParaRPr lang="zh-CN" altLang="en-US" sz="6000" b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560935" y="1143000"/>
            <a:ext cx="11187430" cy="1177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INSERTION-SORT(A)</a:t>
            </a:r>
            <a:endParaRPr lang="zh-CN" altLang="en-US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1. for i = 2 to length(A)</a:t>
            </a:r>
            <a:endParaRPr lang="zh-CN" altLang="en-US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2.     key = A[i]</a:t>
            </a:r>
            <a:endParaRPr lang="zh-CN" altLang="en-US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3.     // 将A[i]插入到A[1...i-1]的合适位置</a:t>
            </a:r>
            <a:endParaRPr lang="zh-CN" altLang="en-US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4.     j = i - 1</a:t>
            </a:r>
            <a:endParaRPr lang="zh-CN" altLang="en-US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5.     while j &gt; 0 and A[j] &gt; key</a:t>
            </a:r>
            <a:endParaRPr lang="zh-CN" altLang="en-US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6.         A[j + 1] = A[j]</a:t>
            </a:r>
            <a:endParaRPr lang="zh-CN" altLang="en-US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7.         j = j - 1</a:t>
            </a:r>
            <a:endParaRPr lang="zh-CN" altLang="en-US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6000" b="1">
                <a:solidFill>
                  <a:schemeClr val="bg1"/>
                </a:solidFill>
              </a:rPr>
              <a:t>8.     A[j + 1] = key</a:t>
            </a:r>
            <a:endParaRPr lang="zh-CN" altLang="en-US" sz="6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6400800" cy="3251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01385" cy="196786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96266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97663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900" y="96266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9700" y="9753600"/>
            <a:ext cx="381000" cy="46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3000" y="8610600"/>
            <a:ext cx="2794000" cy="49784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117600" y="2743200"/>
            <a:ext cx="11619865" cy="427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solidFill>
                  <a:schemeClr val="bg1"/>
                </a:solidFill>
              </a:rPr>
              <a:t>冒泡排序</a:t>
            </a:r>
            <a:endParaRPr lang="zh-CN" altLang="en-US" sz="6000" b="1">
              <a:solidFill>
                <a:schemeClr val="bg1"/>
              </a:solidFill>
            </a:endParaRPr>
          </a:p>
          <a:p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重复地遍历要排序的数列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一次比较两个元素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如果顺序错误就交换</a:t>
            </a:r>
            <a:endParaRPr lang="zh-CN" altLang="en-US" sz="6000" b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560935" y="1143000"/>
            <a:ext cx="11187430" cy="1177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BUBBLE-SORT(A)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1. for i = 1 to length(A) - 1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2.     for j = 1 to length(A) - i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3.         if A[j] &gt; A[j + 1]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4.             // </a:t>
            </a:r>
            <a:r>
              <a:rPr lang="zh-CN" altLang="en-US" sz="6000" b="1">
                <a:solidFill>
                  <a:schemeClr val="bg1"/>
                </a:solidFill>
              </a:rPr>
              <a:t>交换</a:t>
            </a:r>
            <a:r>
              <a:rPr lang="en-US" altLang="zh-CN" sz="6000" b="1">
                <a:solidFill>
                  <a:schemeClr val="bg1"/>
                </a:solidFill>
              </a:rPr>
              <a:t>A[j]</a:t>
            </a:r>
            <a:r>
              <a:rPr lang="zh-CN" altLang="en-US" sz="6000" b="1">
                <a:solidFill>
                  <a:schemeClr val="bg1"/>
                </a:solidFill>
              </a:rPr>
              <a:t>和</a:t>
            </a:r>
            <a:r>
              <a:rPr lang="en-US" altLang="zh-CN" sz="6000" b="1">
                <a:solidFill>
                  <a:schemeClr val="bg1"/>
                </a:solidFill>
              </a:rPr>
              <a:t>A[j + 1]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5.             swap A[j] with A[j + 1]</a:t>
            </a:r>
            <a:endParaRPr lang="en-US" altLang="zh-CN" sz="6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6400800" cy="3251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01385" cy="196786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96266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97663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900" y="96266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9700" y="9753600"/>
            <a:ext cx="381000" cy="46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3000" y="8610600"/>
            <a:ext cx="2794000" cy="49784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117600" y="2743200"/>
            <a:ext cx="11619865" cy="427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solidFill>
                  <a:schemeClr val="bg1"/>
                </a:solidFill>
              </a:rPr>
              <a:t>选择排序</a:t>
            </a:r>
            <a:endParaRPr lang="zh-CN" altLang="en-US" sz="6000" b="1">
              <a:solidFill>
                <a:schemeClr val="bg1"/>
              </a:solidFill>
            </a:endParaRPr>
          </a:p>
          <a:p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从未排序的部分中找到最值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存放到排序序列的起始位置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再从剩余未排序元素中寻找最值放到已排序序列的末尾</a:t>
            </a:r>
            <a:endParaRPr lang="zh-CN" altLang="en-US" sz="6000" b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560935" y="1143000"/>
            <a:ext cx="11187430" cy="1177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SELECTION-SORT(A)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1. for i = 1 to length(A) - 1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2.     min_index = i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3.     for j = i + 1 to length(A)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4.         if A[j] &lt; A[min_index]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5.             min_index = j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6.     // </a:t>
            </a:r>
            <a:r>
              <a:rPr lang="zh-CN" altLang="en-US" sz="6000" b="1">
                <a:solidFill>
                  <a:schemeClr val="bg1"/>
                </a:solidFill>
              </a:rPr>
              <a:t>交换</a:t>
            </a:r>
            <a:r>
              <a:rPr lang="en-US" altLang="zh-CN" sz="6000" b="1">
                <a:solidFill>
                  <a:schemeClr val="bg1"/>
                </a:solidFill>
              </a:rPr>
              <a:t>A[i]</a:t>
            </a:r>
            <a:r>
              <a:rPr lang="zh-CN" altLang="en-US" sz="6000" b="1">
                <a:solidFill>
                  <a:schemeClr val="bg1"/>
                </a:solidFill>
              </a:rPr>
              <a:t>和</a:t>
            </a:r>
            <a:r>
              <a:rPr lang="en-US" altLang="zh-CN" sz="6000" b="1">
                <a:solidFill>
                  <a:schemeClr val="bg1"/>
                </a:solidFill>
              </a:rPr>
              <a:t>A[min_index]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7.     if min_index != i</a:t>
            </a:r>
            <a:endParaRPr lang="en-US" altLang="zh-CN" sz="6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6000" b="1">
                <a:solidFill>
                  <a:schemeClr val="bg1"/>
                </a:solidFill>
              </a:rPr>
              <a:t>8.         swap A[i] with A[min_index]</a:t>
            </a:r>
            <a:endParaRPr lang="en-US" altLang="zh-CN" sz="6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6400800" cy="3251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01385" cy="196786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96266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97663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900" y="96266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9700" y="9753600"/>
            <a:ext cx="381000" cy="46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3000" y="8610600"/>
            <a:ext cx="2794000" cy="49784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117600" y="2743200"/>
            <a:ext cx="11211560" cy="5866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solidFill>
                  <a:schemeClr val="bg1"/>
                </a:solidFill>
              </a:rPr>
              <a:t>归并排序</a:t>
            </a:r>
            <a:endParaRPr lang="zh-CN" altLang="en-US" sz="6000" b="1">
              <a:solidFill>
                <a:schemeClr val="bg1"/>
              </a:solidFill>
            </a:endParaRPr>
          </a:p>
          <a:p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数组分成两半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分别对这两半进行排序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然后将排序后的两半合并成一个完整的有序数组</a:t>
            </a:r>
            <a:endParaRPr lang="zh-CN" altLang="en-US" sz="6000" b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716000" y="304800"/>
            <a:ext cx="10128250" cy="927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merge_sort(arr):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    if len(arr) &lt;= 1: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        return arr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    mid = len(arr) // 2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    left = merge_sort(arr[:mid])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    right = merge_sort(arr[mid:])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    # </a:t>
            </a:r>
            <a:r>
              <a:rPr lang="zh-CN" altLang="en-US" sz="4000" b="1">
                <a:solidFill>
                  <a:schemeClr val="bg1"/>
                </a:solidFill>
              </a:rPr>
              <a:t>合并两个有序数组</a:t>
            </a:r>
            <a:endParaRPr lang="zh-CN" altLang="en-US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    return merge(left, right)MERGE(left, right)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  <a:sym typeface="+mn-ea"/>
              </a:rPr>
              <a:t>merge</a:t>
            </a:r>
            <a:r>
              <a:rPr lang="zh-CN" altLang="en-US" sz="4000" b="1">
                <a:solidFill>
                  <a:schemeClr val="bg1"/>
                </a:solidFill>
                <a:sym typeface="+mn-ea"/>
              </a:rPr>
              <a:t>：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1. result = []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2. i = 0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3. j = 0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4. while i &lt; len(left) and j &lt; len(right):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5.     if left[i] &lt; right[j]: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6.         result.append(left[i])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7.         i = i + 1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8.     else: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9.         result.append(right[j])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10.        j = j + 1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11. result.extend(left[i:])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12. result.extend(right[j:])</a:t>
            </a:r>
            <a:endParaRPr lang="en-US" altLang="zh-CN" sz="40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4000" b="1">
                <a:solidFill>
                  <a:schemeClr val="bg1"/>
                </a:solidFill>
              </a:rPr>
              <a:t>13. return result</a:t>
            </a:r>
            <a:endParaRPr lang="en-US" altLang="zh-CN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6400800" cy="3251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01385" cy="196786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96266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97663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900" y="96266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9700" y="9753600"/>
            <a:ext cx="381000" cy="46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3000" y="8610600"/>
            <a:ext cx="2794000" cy="49784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117600" y="2743200"/>
            <a:ext cx="11211560" cy="5866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0" b="1">
                <a:solidFill>
                  <a:schemeClr val="bg1"/>
                </a:solidFill>
              </a:rPr>
              <a:t>快速排序</a:t>
            </a:r>
            <a:endParaRPr lang="zh-CN" altLang="en-US" sz="6000" b="1">
              <a:solidFill>
                <a:schemeClr val="bg1"/>
              </a:solidFill>
            </a:endParaRPr>
          </a:p>
          <a:p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选择一个</a:t>
            </a:r>
            <a:r>
              <a:rPr lang="en-US" altLang="zh-CN" sz="6000" b="1">
                <a:solidFill>
                  <a:schemeClr val="bg1"/>
                </a:solidFill>
              </a:rPr>
              <a:t>“</a:t>
            </a:r>
            <a:r>
              <a:rPr lang="zh-CN" altLang="en-US" sz="6000" b="1">
                <a:solidFill>
                  <a:schemeClr val="bg1"/>
                </a:solidFill>
              </a:rPr>
              <a:t>基准</a:t>
            </a:r>
            <a:r>
              <a:rPr lang="en-US" altLang="zh-CN" sz="6000" b="1">
                <a:solidFill>
                  <a:schemeClr val="bg1"/>
                </a:solidFill>
              </a:rPr>
              <a:t>”</a:t>
            </a:r>
            <a:r>
              <a:rPr lang="zh-CN" altLang="en-US" sz="6000" b="1">
                <a:solidFill>
                  <a:schemeClr val="bg1"/>
                </a:solidFill>
              </a:rPr>
              <a:t>值（</a:t>
            </a:r>
            <a:r>
              <a:rPr lang="en-US" altLang="zh-CN" sz="6000" b="1">
                <a:solidFill>
                  <a:schemeClr val="bg1"/>
                </a:solidFill>
              </a:rPr>
              <a:t>pivot</a:t>
            </a:r>
            <a:r>
              <a:rPr lang="zh-CN" altLang="en-US" sz="6000" b="1">
                <a:solidFill>
                  <a:schemeClr val="bg1"/>
                </a:solidFill>
              </a:rPr>
              <a:t>）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将数组分为两部分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一部分小于基准值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另一部分大于基准值</a:t>
            </a:r>
            <a:endParaRPr lang="zh-CN" altLang="en-US" sz="6000" b="1">
              <a:solidFill>
                <a:schemeClr val="bg1"/>
              </a:solidFill>
            </a:endParaRPr>
          </a:p>
          <a:p>
            <a:r>
              <a:rPr lang="zh-CN" altLang="en-US" sz="6000" b="1">
                <a:solidFill>
                  <a:schemeClr val="bg1"/>
                </a:solidFill>
              </a:rPr>
              <a:t>然后递归地对这两部分进行排序</a:t>
            </a:r>
            <a:endParaRPr lang="zh-CN" altLang="en-US" sz="6000" b="1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716000" y="685800"/>
            <a:ext cx="9076055" cy="927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QUICK-SORT(A, p, r)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1. if p &lt; r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2.     q = PARTITION(A, p, r)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3.     QUICK-SORT(A, p, q - 1)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4.     QUICK-SORT(A, q + 1, r)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PARTITION(A, p, r)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1. x = A[r]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2. i = p - 1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3. for j = p to r - 1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4.     if A[j] ≤ x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5.         i = i + 1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6.         swap A[i] with A[j]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7. swap A[i + 1] with A[r]</a:t>
            </a:r>
            <a:endParaRPr lang="en-US" altLang="zh-CN" sz="5400" b="1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5400" b="1">
                <a:solidFill>
                  <a:schemeClr val="bg1"/>
                </a:solidFill>
              </a:rPr>
              <a:t>8. return i + 1</a:t>
            </a:r>
            <a:endParaRPr lang="en-US" altLang="zh-CN" sz="5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9900"/>
            <a:ext cx="24384000" cy="308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384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3530600"/>
            <a:ext cx="5054600" cy="1018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2600" y="5816600"/>
            <a:ext cx="59944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1300" y="7683500"/>
            <a:ext cx="11442700" cy="1003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346200" y="645795"/>
            <a:ext cx="18635345" cy="11725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</a:rPr>
              <a:t>选择排序</a:t>
            </a:r>
            <a:endParaRPr lang="zh-CN" altLang="en-US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def selection_sort(arr):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n = len(arr)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for i in range(n):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# </a:t>
            </a:r>
            <a:r>
              <a:rPr lang="zh-CN" altLang="en-US" sz="5400" b="1">
                <a:solidFill>
                  <a:schemeClr val="bg1"/>
                </a:solidFill>
              </a:rPr>
              <a:t>找到未排序部分的最小值索引</a:t>
            </a:r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min_index = i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for j in range(i + 1, n):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    if arr[j] &lt; arr[min_index]: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        min_index = j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# </a:t>
            </a:r>
            <a:r>
              <a:rPr lang="zh-CN" altLang="en-US" sz="5400" b="1">
                <a:solidFill>
                  <a:schemeClr val="bg1"/>
                </a:solidFill>
              </a:rPr>
              <a:t>将最小值与当前索引位置的值交换</a:t>
            </a:r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arr[i], arr[min_index] = arr[min_index], arr[i]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return arr</a:t>
            </a:r>
            <a:endParaRPr lang="en-US" altLang="zh-CN" sz="5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346200" y="645795"/>
            <a:ext cx="18635345" cy="13387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</a:rPr>
              <a:t>插入排序</a:t>
            </a:r>
            <a:endParaRPr lang="zh-CN" altLang="en-US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def insertion_sort(arr):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n = len(arr)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for i in range(1, n):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key = arr[i]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j = i - 1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# </a:t>
            </a:r>
            <a:r>
              <a:rPr lang="zh-CN" altLang="en-US" sz="5400" b="1">
                <a:solidFill>
                  <a:schemeClr val="bg1"/>
                </a:solidFill>
              </a:rPr>
              <a:t>将当前元素插入到已排序部分的合适位置</a:t>
            </a:r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while j &gt;= 0 and key &lt; arr[j]: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    arr[j + 1] = arr[j]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    j -= 1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arr[j + 1] = key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return arr</a:t>
            </a:r>
            <a:endParaRPr lang="en-US" altLang="zh-CN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endParaRPr lang="en-US" altLang="zh-CN" sz="5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346200" y="645795"/>
            <a:ext cx="18635345" cy="13387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</a:rPr>
              <a:t>冒泡排序</a:t>
            </a:r>
            <a:endParaRPr lang="zh-CN" altLang="en-US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def bubble_sort(arr):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n = len(arr)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for i in range(n - 1):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# </a:t>
            </a:r>
            <a:r>
              <a:rPr lang="zh-CN" altLang="en-US" sz="5400" b="1">
                <a:solidFill>
                  <a:schemeClr val="bg1"/>
                </a:solidFill>
              </a:rPr>
              <a:t>提前退出冒泡循环的标志</a:t>
            </a:r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swapped = False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for j in range(n - 1 - i):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    if arr[j] &gt; arr[j + 1]: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        arr[j], arr[j + 1] = arr[j + 1], arr[j]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        swapped = True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# </a:t>
            </a:r>
            <a:r>
              <a:rPr lang="zh-CN" altLang="en-US" sz="5400" b="1">
                <a:solidFill>
                  <a:schemeClr val="bg1"/>
                </a:solidFill>
              </a:rPr>
              <a:t>如果没有发生交换，说明数组已经有序</a:t>
            </a:r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if not swapped: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    break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return arr</a:t>
            </a:r>
            <a:endParaRPr lang="en-US" altLang="zh-CN" sz="5400" b="1">
              <a:solidFill>
                <a:schemeClr val="bg1"/>
              </a:solidFill>
            </a:endParaRPr>
          </a:p>
          <a:p>
            <a:endParaRPr lang="en-US" altLang="zh-CN" sz="5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346200" y="645795"/>
            <a:ext cx="9813925" cy="108946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</a:rPr>
              <a:t>归并排序</a:t>
            </a:r>
            <a:endParaRPr lang="zh-CN" altLang="en-US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def merge_sort(arr):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if len(arr) &lt;= 1: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return arr</a:t>
            </a:r>
            <a:endParaRPr lang="en-US" altLang="zh-CN" sz="5400" b="1">
              <a:solidFill>
                <a:schemeClr val="bg1"/>
              </a:solidFill>
            </a:endParaRPr>
          </a:p>
          <a:p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mid = len(arr) // 2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left = merge_sort(arr[:mid])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right = merge_sort(arr[mid:])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# </a:t>
            </a:r>
            <a:r>
              <a:rPr lang="zh-CN" altLang="en-US" sz="5400" b="1">
                <a:solidFill>
                  <a:schemeClr val="bg1"/>
                </a:solidFill>
              </a:rPr>
              <a:t>合并两个有序数组</a:t>
            </a:r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return merge(left, right)</a:t>
            </a:r>
            <a:endParaRPr lang="en-US" altLang="zh-CN" sz="5400" b="1">
              <a:solidFill>
                <a:schemeClr val="bg1"/>
              </a:solidFill>
            </a:endParaRPr>
          </a:p>
          <a:p>
            <a:endParaRPr lang="en-US" altLang="zh-CN" sz="5400" b="1">
              <a:solidFill>
                <a:schemeClr val="bg1"/>
              </a:solidFill>
            </a:endParaRPr>
          </a:p>
          <a:p>
            <a:endParaRPr lang="en-US" altLang="zh-CN" sz="54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64135" y="807085"/>
            <a:ext cx="9410065" cy="122796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def merge(left, right):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result = []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i = j = 0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while i &lt; len(left) and j &lt; len(right):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    if left[i] &lt; right[j]: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        result.append(left[i])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        i += 1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    else: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        result.append(right[j])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        j += 1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result.extend(left[i:])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result.extend(right[j:])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  <a:sym typeface="+mn-ea"/>
              </a:rPr>
              <a:t>    return result</a:t>
            </a:r>
            <a:endParaRPr lang="en-US" altLang="zh-CN" sz="5400" b="1">
              <a:solidFill>
                <a:schemeClr val="bg1"/>
              </a:solidFill>
            </a:endParaRPr>
          </a:p>
          <a:p>
            <a:endParaRPr lang="en-US" altLang="zh-CN" b="1">
              <a:solidFill>
                <a:schemeClr val="bg1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346200" y="645795"/>
            <a:ext cx="18635345" cy="108946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</a:rPr>
              <a:t>快速排序</a:t>
            </a:r>
            <a:endParaRPr lang="zh-CN" altLang="en-US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endParaRPr lang="zh-CN" altLang="en-US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def quick_sort(arr):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if len(arr) &lt;= 1: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return arr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else: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pivot = arr[len(arr) // 2]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left = [x for x in arr if x &lt; pivot]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middle = [x for x in arr if x == pivot]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right = [x for x in arr if x &gt; pivot]</a:t>
            </a:r>
            <a:endParaRPr lang="en-US" altLang="zh-CN" sz="5400" b="1">
              <a:solidFill>
                <a:schemeClr val="bg1"/>
              </a:solidFill>
            </a:endParaRPr>
          </a:p>
          <a:p>
            <a:r>
              <a:rPr lang="en-US" altLang="zh-CN" sz="5400" b="1">
                <a:solidFill>
                  <a:schemeClr val="bg1"/>
                </a:solidFill>
              </a:rPr>
              <a:t>        return quick_sort(left) + middle + quick_sort(right)</a:t>
            </a:r>
            <a:endParaRPr lang="en-US" altLang="zh-CN" sz="5400" b="1">
              <a:solidFill>
                <a:schemeClr val="bg1"/>
              </a:solidFill>
            </a:endParaRPr>
          </a:p>
          <a:p>
            <a:endParaRPr lang="en-US" altLang="zh-CN" sz="5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9900"/>
            <a:ext cx="24384000" cy="308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384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3530600"/>
            <a:ext cx="5054600" cy="1018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5300" y="5816600"/>
            <a:ext cx="6045200" cy="133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1300" y="7696200"/>
            <a:ext cx="8661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00" y="203200"/>
            <a:ext cx="24231600" cy="1356360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4130000" cy="13462000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0858500"/>
            <a:ext cx="711200" cy="711200"/>
          </a:xfrm>
          <a:prstGeom prst="rect">
            <a:avLst/>
          </a:prstGeom>
        </p:spPr>
      </p:pic>
      <p:pic>
        <p:nvPicPr>
          <p:cNvPr id="11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3400" y="10985500"/>
            <a:ext cx="406400" cy="482600"/>
          </a:xfrm>
          <a:prstGeom prst="rect">
            <a:avLst/>
          </a:prstGeom>
        </p:spPr>
      </p:pic>
      <p:pic>
        <p:nvPicPr>
          <p:cNvPr id="12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10858500"/>
            <a:ext cx="711200" cy="711200"/>
          </a:xfrm>
          <a:prstGeom prst="rect">
            <a:avLst/>
          </a:prstGeom>
        </p:spPr>
      </p:pic>
      <p:pic>
        <p:nvPicPr>
          <p:cNvPr id="13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82500" y="10972800"/>
            <a:ext cx="406400" cy="482600"/>
          </a:xfrm>
          <a:prstGeom prst="rect">
            <a:avLst/>
          </a:prstGeom>
        </p:spPr>
      </p:pic>
      <p:pic>
        <p:nvPicPr>
          <p:cNvPr id="18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0" y="127000"/>
            <a:ext cx="6400800" cy="3251200"/>
          </a:xfrm>
          <a:prstGeom prst="rect">
            <a:avLst/>
          </a:prstGeom>
        </p:spPr>
      </p:pic>
      <p:pic>
        <p:nvPicPr>
          <p:cNvPr id="20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00" y="127000"/>
            <a:ext cx="7010400" cy="2298700"/>
          </a:xfrm>
          <a:prstGeom prst="rect">
            <a:avLst/>
          </a:prstGeom>
        </p:spPr>
      </p:pic>
      <p:pic>
        <p:nvPicPr>
          <p:cNvPr id="21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65600" y="10947400"/>
            <a:ext cx="7645400" cy="2895600"/>
          </a:xfrm>
          <a:prstGeom prst="rect">
            <a:avLst/>
          </a:prstGeom>
        </p:spPr>
      </p:pic>
      <p:pic>
        <p:nvPicPr>
          <p:cNvPr id="22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590000" y="9880600"/>
            <a:ext cx="2921000" cy="3962400"/>
          </a:xfrm>
          <a:prstGeom prst="rect">
            <a:avLst/>
          </a:prstGeom>
        </p:spPr>
      </p:pic>
      <p:graphicFrame>
        <p:nvGraphicFramePr>
          <p:cNvPr id="23" name="表格 22"/>
          <p:cNvGraphicFramePr/>
          <p:nvPr>
            <p:custDataLst>
              <p:tags r:id="rId18"/>
            </p:custDataLst>
          </p:nvPr>
        </p:nvGraphicFramePr>
        <p:xfrm>
          <a:off x="3468370" y="4111625"/>
          <a:ext cx="18183860" cy="5683250"/>
        </p:xfrm>
        <a:graphic>
          <a:graphicData uri="http://schemas.openxmlformats.org/drawingml/2006/table">
            <a:tbl>
              <a:tblPr/>
              <a:tblGrid>
                <a:gridCol w="3117215"/>
                <a:gridCol w="3766185"/>
                <a:gridCol w="3769995"/>
                <a:gridCol w="3764280"/>
                <a:gridCol w="3766185"/>
              </a:tblGrid>
              <a:tr h="9709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效率排序法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时间复杂度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最好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时间复杂度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平均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时间复杂度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最差</a:t>
                      </a: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空间复杂度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36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选择排序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O(n²)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O(n²)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O(n²)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O(1)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17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冒泡排序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O(n²)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O(n²)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O(1)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2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插入排序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O(n²)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O(n²)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O(1)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2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合并排序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 log 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 log 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 log 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17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快速排序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 log 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 log 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O(n²)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600" b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O(log n)--O(n)</a:t>
                      </a:r>
                      <a:endParaRPr lang="en-US" altLang="en-US" sz="3600" b="0">
                        <a:solidFill>
                          <a:schemeClr val="bg1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2971800" y="1295400"/>
            <a:ext cx="476123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Hannotate SC Bold" panose="03000500000000000000" charset="-122"/>
                <a:ea typeface="Hannotate SC Bold" panose="03000500000000000000" charset="-122"/>
              </a:rPr>
              <a:t>复杂度分析</a:t>
            </a:r>
            <a:endParaRPr lang="zh-CN" altLang="en-US" sz="7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Hannotate SC Bold" panose="03000500000000000000" charset="-122"/>
              <a:ea typeface="Hannotate SC Bold" panose="030005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00" y="203200"/>
            <a:ext cx="24231600" cy="1356360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4130000" cy="13462000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0858500"/>
            <a:ext cx="711200" cy="711200"/>
          </a:xfrm>
          <a:prstGeom prst="rect">
            <a:avLst/>
          </a:prstGeom>
        </p:spPr>
      </p:pic>
      <p:pic>
        <p:nvPicPr>
          <p:cNvPr id="11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3400" y="10985500"/>
            <a:ext cx="406400" cy="482600"/>
          </a:xfrm>
          <a:prstGeom prst="rect">
            <a:avLst/>
          </a:prstGeom>
        </p:spPr>
      </p:pic>
      <p:pic>
        <p:nvPicPr>
          <p:cNvPr id="12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1300" y="10896600"/>
            <a:ext cx="3149600" cy="57150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2300" y="11645900"/>
            <a:ext cx="4953000" cy="457200"/>
          </a:xfrm>
          <a:prstGeom prst="rect">
            <a:avLst/>
          </a:prstGeom>
        </p:spPr>
      </p:pic>
      <p:pic>
        <p:nvPicPr>
          <p:cNvPr id="18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10858500"/>
            <a:ext cx="711200" cy="711200"/>
          </a:xfrm>
          <a:prstGeom prst="rect">
            <a:avLst/>
          </a:prstGeom>
        </p:spPr>
      </p:pic>
      <p:pic>
        <p:nvPicPr>
          <p:cNvPr id="20" name="Picture 1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82500" y="10972800"/>
            <a:ext cx="406400" cy="482600"/>
          </a:xfrm>
          <a:prstGeom prst="rect">
            <a:avLst/>
          </a:prstGeom>
        </p:spPr>
      </p:pic>
      <p:pic>
        <p:nvPicPr>
          <p:cNvPr id="21" name="Picture 1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925800" y="10896600"/>
            <a:ext cx="3162300" cy="571500"/>
          </a:xfrm>
          <a:prstGeom prst="rect">
            <a:avLst/>
          </a:prstGeom>
        </p:spPr>
      </p:pic>
      <p:pic>
        <p:nvPicPr>
          <p:cNvPr id="22" name="Picture 1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44700" y="11645900"/>
            <a:ext cx="5511800" cy="444500"/>
          </a:xfrm>
          <a:prstGeom prst="rect">
            <a:avLst/>
          </a:prstGeom>
        </p:spPr>
      </p:pic>
      <p:pic>
        <p:nvPicPr>
          <p:cNvPr id="23" name="Picture 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00" y="127000"/>
            <a:ext cx="6400800" cy="3251200"/>
          </a:xfrm>
          <a:prstGeom prst="rect">
            <a:avLst/>
          </a:prstGeom>
        </p:spPr>
      </p:pic>
      <p:pic>
        <p:nvPicPr>
          <p:cNvPr id="24" name="Picture 1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0" y="127000"/>
            <a:ext cx="7010400" cy="2298700"/>
          </a:xfrm>
          <a:prstGeom prst="rect">
            <a:avLst/>
          </a:prstGeom>
        </p:spPr>
      </p:pic>
      <p:pic>
        <p:nvPicPr>
          <p:cNvPr id="25" name="Picture 1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865600" y="10947400"/>
            <a:ext cx="7645400" cy="2895600"/>
          </a:xfrm>
          <a:prstGeom prst="rect">
            <a:avLst/>
          </a:prstGeom>
        </p:spPr>
      </p:pic>
      <p:pic>
        <p:nvPicPr>
          <p:cNvPr id="26" name="Picture 1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590000" y="9880600"/>
            <a:ext cx="2921000" cy="3962400"/>
          </a:xfrm>
          <a:prstGeom prst="rect">
            <a:avLst/>
          </a:prstGeom>
        </p:spPr>
      </p:pic>
      <p:pic>
        <p:nvPicPr>
          <p:cNvPr id="27" name="Picture 1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71800" y="1371600"/>
            <a:ext cx="6553200" cy="9525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3"/>
          <a:srcRect l="3502" r="25502"/>
          <a:stretch>
            <a:fillRect/>
          </a:stretch>
        </p:blipFill>
        <p:spPr>
          <a:xfrm>
            <a:off x="2057400" y="5257800"/>
            <a:ext cx="10695305" cy="376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4"/>
          <a:srcRect l="2746" t="4898" r="11754"/>
          <a:stretch>
            <a:fillRect/>
          </a:stretch>
        </p:blipFill>
        <p:spPr>
          <a:xfrm>
            <a:off x="12763500" y="4191000"/>
            <a:ext cx="10439400" cy="59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00" y="203200"/>
            <a:ext cx="24231600" cy="1356360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4130000" cy="13462000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0858500"/>
            <a:ext cx="711200" cy="711200"/>
          </a:xfrm>
          <a:prstGeom prst="rect">
            <a:avLst/>
          </a:prstGeom>
        </p:spPr>
      </p:pic>
      <p:pic>
        <p:nvPicPr>
          <p:cNvPr id="11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3400" y="10985500"/>
            <a:ext cx="406400" cy="482600"/>
          </a:xfrm>
          <a:prstGeom prst="rect">
            <a:avLst/>
          </a:prstGeom>
        </p:spPr>
      </p:pic>
      <p:pic>
        <p:nvPicPr>
          <p:cNvPr id="12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10858500"/>
            <a:ext cx="711200" cy="711200"/>
          </a:xfrm>
          <a:prstGeom prst="rect">
            <a:avLst/>
          </a:prstGeom>
        </p:spPr>
      </p:pic>
      <p:pic>
        <p:nvPicPr>
          <p:cNvPr id="13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82500" y="10972800"/>
            <a:ext cx="406400" cy="482600"/>
          </a:xfrm>
          <a:prstGeom prst="rect">
            <a:avLst/>
          </a:prstGeom>
        </p:spPr>
      </p:pic>
      <p:pic>
        <p:nvPicPr>
          <p:cNvPr id="18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0" y="127000"/>
            <a:ext cx="6400800" cy="3251200"/>
          </a:xfrm>
          <a:prstGeom prst="rect">
            <a:avLst/>
          </a:prstGeom>
        </p:spPr>
      </p:pic>
      <p:pic>
        <p:nvPicPr>
          <p:cNvPr id="20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00" y="127000"/>
            <a:ext cx="7010400" cy="2298700"/>
          </a:xfrm>
          <a:prstGeom prst="rect">
            <a:avLst/>
          </a:prstGeom>
        </p:spPr>
      </p:pic>
      <p:pic>
        <p:nvPicPr>
          <p:cNvPr id="21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65600" y="10947400"/>
            <a:ext cx="7645400" cy="2895600"/>
          </a:xfrm>
          <a:prstGeom prst="rect">
            <a:avLst/>
          </a:prstGeom>
        </p:spPr>
      </p:pic>
      <p:pic>
        <p:nvPicPr>
          <p:cNvPr id="22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590000" y="9880600"/>
            <a:ext cx="2921000" cy="39624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8"/>
          <a:srcRect l="4737" t="7259" r="12705"/>
          <a:stretch>
            <a:fillRect/>
          </a:stretch>
        </p:blipFill>
        <p:spPr>
          <a:xfrm>
            <a:off x="5334000" y="2712085"/>
            <a:ext cx="12489624" cy="78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53600" y="10858500"/>
            <a:ext cx="4140200" cy="571500"/>
          </a:xfrm>
          <a:prstGeom prst="rect">
            <a:avLst/>
          </a:prstGeom>
        </p:spPr>
      </p:pic>
      <p:pic>
        <p:nvPicPr>
          <p:cNvPr id="24" name="Picture 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77300" y="11658600"/>
            <a:ext cx="6197600" cy="457200"/>
          </a:xfrm>
          <a:prstGeom prst="rect">
            <a:avLst/>
          </a:prstGeom>
        </p:spPr>
      </p:pic>
      <p:pic>
        <p:nvPicPr>
          <p:cNvPr id="25" name="Picture 1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71800" y="1344930"/>
            <a:ext cx="8555715" cy="95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92202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93726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92202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93599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00" y="203200"/>
            <a:ext cx="24231600" cy="1356360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54000"/>
            <a:ext cx="24130000" cy="13462000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0858500"/>
            <a:ext cx="711200" cy="711200"/>
          </a:xfrm>
          <a:prstGeom prst="rect">
            <a:avLst/>
          </a:prstGeom>
        </p:spPr>
      </p:pic>
      <p:pic>
        <p:nvPicPr>
          <p:cNvPr id="11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3400" y="10985500"/>
            <a:ext cx="406400" cy="482600"/>
          </a:xfrm>
          <a:prstGeom prst="rect">
            <a:avLst/>
          </a:prstGeom>
        </p:spPr>
      </p:pic>
      <p:pic>
        <p:nvPicPr>
          <p:cNvPr id="12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96600" y="10896600"/>
            <a:ext cx="2133600" cy="57150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8400" y="11645900"/>
            <a:ext cx="3556000" cy="444500"/>
          </a:xfrm>
          <a:prstGeom prst="rect">
            <a:avLst/>
          </a:prstGeom>
        </p:spPr>
      </p:pic>
      <p:pic>
        <p:nvPicPr>
          <p:cNvPr id="18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10858500"/>
            <a:ext cx="711200" cy="711200"/>
          </a:xfrm>
          <a:prstGeom prst="rect">
            <a:avLst/>
          </a:prstGeom>
        </p:spPr>
      </p:pic>
      <p:pic>
        <p:nvPicPr>
          <p:cNvPr id="20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82500" y="10972800"/>
            <a:ext cx="406400" cy="482600"/>
          </a:xfrm>
          <a:prstGeom prst="rect">
            <a:avLst/>
          </a:prstGeom>
        </p:spPr>
      </p:pic>
      <p:pic>
        <p:nvPicPr>
          <p:cNvPr id="21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000" y="127000"/>
            <a:ext cx="6400800" cy="3251200"/>
          </a:xfrm>
          <a:prstGeom prst="rect">
            <a:avLst/>
          </a:prstGeom>
        </p:spPr>
      </p:pic>
      <p:pic>
        <p:nvPicPr>
          <p:cNvPr id="22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0" y="127000"/>
            <a:ext cx="7010400" cy="2298700"/>
          </a:xfrm>
          <a:prstGeom prst="rect">
            <a:avLst/>
          </a:prstGeom>
        </p:spPr>
      </p:pic>
      <p:pic>
        <p:nvPicPr>
          <p:cNvPr id="23" name="Picture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865600" y="10947400"/>
            <a:ext cx="7645400" cy="2895600"/>
          </a:xfrm>
          <a:prstGeom prst="rect">
            <a:avLst/>
          </a:prstGeom>
        </p:spPr>
      </p:pic>
      <p:pic>
        <p:nvPicPr>
          <p:cNvPr id="24" name="Picture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590000" y="9880600"/>
            <a:ext cx="2921000" cy="3962400"/>
          </a:xfrm>
          <a:prstGeom prst="rect">
            <a:avLst/>
          </a:prstGeom>
        </p:spPr>
      </p:pic>
      <p:pic>
        <p:nvPicPr>
          <p:cNvPr id="25" name="Picture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71800" y="1358900"/>
            <a:ext cx="12077700" cy="9652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0"/>
          <a:srcRect l="2090" t="3675" r="12763" b="1707"/>
          <a:stretch>
            <a:fillRect/>
          </a:stretch>
        </p:blipFill>
        <p:spPr>
          <a:xfrm>
            <a:off x="5791200" y="2711450"/>
            <a:ext cx="12420600" cy="784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9900"/>
            <a:ext cx="24384000" cy="308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384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3530600"/>
            <a:ext cx="5054600" cy="1018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300" y="5842000"/>
            <a:ext cx="7797800" cy="157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1300" y="7696200"/>
            <a:ext cx="86741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77343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78740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77343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78613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300" y="7734300"/>
            <a:ext cx="7112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0" y="7861300"/>
            <a:ext cx="3810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3100" y="7734300"/>
            <a:ext cx="711200" cy="711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60900" y="7874000"/>
            <a:ext cx="381000" cy="457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507490" y="746760"/>
            <a:ext cx="22341840" cy="10063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solidFill>
                  <a:schemeClr val="bg1"/>
                </a:solidFill>
              </a:rPr>
              <a:t>问题描述</a:t>
            </a:r>
            <a:r>
              <a:rPr lang="en-US" altLang="zh-CN" sz="5400">
                <a:solidFill>
                  <a:schemeClr val="bg1"/>
                </a:solidFill>
              </a:rPr>
              <a:t>    </a:t>
            </a:r>
            <a:endParaRPr lang="en-US" altLang="zh-CN" sz="5400">
              <a:solidFill>
                <a:schemeClr val="bg1"/>
              </a:solidFill>
            </a:endParaRPr>
          </a:p>
          <a:p>
            <a:r>
              <a:rPr lang="en-US" altLang="zh-CN" sz="5400">
                <a:solidFill>
                  <a:schemeClr val="bg1"/>
                </a:solidFill>
              </a:rPr>
              <a:t>           </a:t>
            </a:r>
            <a:r>
              <a:rPr lang="zh-CN" altLang="en-US" sz="5400">
                <a:solidFill>
                  <a:schemeClr val="bg1"/>
                </a:solidFill>
              </a:rPr>
              <a:t>现在有</a:t>
            </a:r>
            <a:r>
              <a:rPr lang="en-US" altLang="zh-CN" sz="5400">
                <a:solidFill>
                  <a:schemeClr val="bg1"/>
                </a:solidFill>
              </a:rPr>
              <a:t>10</a:t>
            </a:r>
            <a:r>
              <a:rPr lang="zh-CN" altLang="en-US" sz="5400">
                <a:solidFill>
                  <a:schemeClr val="bg1"/>
                </a:solidFill>
              </a:rPr>
              <a:t>亿的数据（每个数据四个字节），请快速挑选出最大的十个数，并在小规模数据上验证算法的正确性。</a:t>
            </a:r>
            <a:endParaRPr lang="zh-CN" altLang="en-US" sz="5400">
              <a:solidFill>
                <a:schemeClr val="bg1"/>
              </a:solidFill>
            </a:endParaRPr>
          </a:p>
          <a:p>
            <a:endParaRPr lang="zh-CN" altLang="en-US" sz="5400">
              <a:solidFill>
                <a:schemeClr val="bg1"/>
              </a:solidFill>
            </a:endParaRPr>
          </a:p>
          <a:p>
            <a:endParaRPr lang="zh-CN" altLang="en-US" sz="5400">
              <a:solidFill>
                <a:schemeClr val="bg1"/>
              </a:solidFill>
            </a:endParaRPr>
          </a:p>
          <a:p>
            <a:r>
              <a:rPr lang="zh-CN" altLang="en-US" sz="5400">
                <a:solidFill>
                  <a:schemeClr val="bg1"/>
                </a:solidFill>
              </a:rPr>
              <a:t> 问题分析</a:t>
            </a:r>
            <a:r>
              <a:rPr lang="en-US" altLang="zh-CN" sz="5400">
                <a:solidFill>
                  <a:schemeClr val="bg1"/>
                </a:solidFill>
              </a:rPr>
              <a:t>-</a:t>
            </a:r>
            <a:r>
              <a:rPr lang="zh-CN" altLang="en-US" sz="5400">
                <a:solidFill>
                  <a:schemeClr val="bg1"/>
                </a:solidFill>
              </a:rPr>
              <a:t>难点</a:t>
            </a:r>
            <a:endParaRPr lang="zh-CN" altLang="en-US" sz="5400">
              <a:solidFill>
                <a:schemeClr val="bg1"/>
              </a:solidFill>
            </a:endParaRPr>
          </a:p>
          <a:p>
            <a:r>
              <a:rPr lang="zh-CN" altLang="en-US" sz="5400">
                <a:solidFill>
                  <a:schemeClr val="bg1"/>
                </a:solidFill>
              </a:rPr>
              <a:t> </a:t>
            </a:r>
            <a:r>
              <a:rPr lang="en-US" altLang="zh-CN" sz="5400">
                <a:solidFill>
                  <a:schemeClr val="bg1"/>
                </a:solidFill>
              </a:rPr>
              <a:t>        10 </a:t>
            </a:r>
            <a:r>
              <a:rPr lang="zh-CN" altLang="en-US" sz="5400">
                <a:solidFill>
                  <a:schemeClr val="bg1"/>
                </a:solidFill>
              </a:rPr>
              <a:t>亿个数据，每个数据</a:t>
            </a:r>
            <a:r>
              <a:rPr lang="en-US" altLang="zh-CN" sz="5400">
                <a:solidFill>
                  <a:schemeClr val="bg1"/>
                </a:solidFill>
              </a:rPr>
              <a:t> 4 </a:t>
            </a:r>
            <a:r>
              <a:rPr lang="zh-CN" altLang="en-US" sz="5400">
                <a:solidFill>
                  <a:schemeClr val="bg1"/>
                </a:solidFill>
              </a:rPr>
              <a:t>字节，总数据量约为</a:t>
            </a:r>
            <a:r>
              <a:rPr lang="en-US" altLang="zh-CN" sz="5400">
                <a:solidFill>
                  <a:schemeClr val="bg1"/>
                </a:solidFill>
              </a:rPr>
              <a:t> 4 GB</a:t>
            </a:r>
            <a:r>
              <a:rPr lang="zh-CN" altLang="en-US" sz="5400">
                <a:solidFill>
                  <a:schemeClr val="bg1"/>
                </a:solidFill>
              </a:rPr>
              <a:t>。直接对所有数据进行排序的时间复杂度为</a:t>
            </a:r>
            <a:r>
              <a:rPr lang="en-US" altLang="zh-CN" sz="5400">
                <a:solidFill>
                  <a:schemeClr val="bg1"/>
                </a:solidFill>
              </a:rPr>
              <a:t>O(nlogn)</a:t>
            </a:r>
            <a:r>
              <a:rPr lang="zh-CN" altLang="en-US" sz="5400">
                <a:solidFill>
                  <a:schemeClr val="bg1"/>
                </a:solidFill>
              </a:rPr>
              <a:t>，对于</a:t>
            </a:r>
            <a:r>
              <a:rPr lang="en-US" altLang="zh-CN" sz="5400">
                <a:solidFill>
                  <a:schemeClr val="bg1"/>
                </a:solidFill>
              </a:rPr>
              <a:t> 10 </a:t>
            </a:r>
            <a:r>
              <a:rPr lang="zh-CN" altLang="en-US" sz="5400">
                <a:solidFill>
                  <a:schemeClr val="bg1"/>
                </a:solidFill>
              </a:rPr>
              <a:t>亿数据来说，计算量非常大。</a:t>
            </a:r>
            <a:endParaRPr lang="zh-CN" altLang="en-US" sz="5400">
              <a:solidFill>
                <a:schemeClr val="bg1"/>
              </a:solidFill>
            </a:endParaRPr>
          </a:p>
          <a:p>
            <a:endParaRPr lang="zh-CN" altLang="en-US" sz="5400">
              <a:solidFill>
                <a:schemeClr val="bg1"/>
              </a:solidFill>
            </a:endParaRPr>
          </a:p>
          <a:p>
            <a:r>
              <a:rPr lang="zh-CN" altLang="en-US" sz="5400">
                <a:solidFill>
                  <a:schemeClr val="bg1"/>
                </a:solidFill>
              </a:rPr>
              <a:t>解决方案</a:t>
            </a:r>
            <a:endParaRPr lang="zh-CN" altLang="en-US" sz="5400">
              <a:solidFill>
                <a:schemeClr val="bg1"/>
              </a:solidFill>
            </a:endParaRPr>
          </a:p>
          <a:p>
            <a:r>
              <a:rPr lang="zh-CN" altLang="en-US" sz="5400">
                <a:solidFill>
                  <a:schemeClr val="bg1"/>
                </a:solidFill>
              </a:rPr>
              <a:t> </a:t>
            </a:r>
            <a:r>
              <a:rPr lang="en-US" altLang="zh-CN" sz="5400">
                <a:solidFill>
                  <a:schemeClr val="bg1"/>
                </a:solidFill>
              </a:rPr>
              <a:t>        </a:t>
            </a:r>
            <a:r>
              <a:rPr lang="zh-CN" altLang="en-US" sz="5400">
                <a:solidFill>
                  <a:schemeClr val="bg1"/>
                </a:solidFill>
              </a:rPr>
              <a:t>把</a:t>
            </a:r>
            <a:r>
              <a:rPr lang="en-US" altLang="zh-CN" sz="5400">
                <a:solidFill>
                  <a:schemeClr val="bg1"/>
                </a:solidFill>
              </a:rPr>
              <a:t>10</a:t>
            </a:r>
            <a:r>
              <a:rPr lang="zh-CN" altLang="en-US" sz="5400">
                <a:solidFill>
                  <a:schemeClr val="bg1"/>
                </a:solidFill>
              </a:rPr>
              <a:t>亿个数据分为</a:t>
            </a:r>
            <a:r>
              <a:rPr lang="en-US" altLang="zh-CN" sz="5400">
                <a:solidFill>
                  <a:schemeClr val="bg1"/>
                </a:solidFill>
              </a:rPr>
              <a:t>100</a:t>
            </a:r>
            <a:r>
              <a:rPr lang="zh-CN" altLang="en-US" sz="5400">
                <a:solidFill>
                  <a:schemeClr val="bg1"/>
                </a:solidFill>
              </a:rPr>
              <a:t>组分别用降序快速排序取每组前</a:t>
            </a:r>
            <a:r>
              <a:rPr lang="en-US" altLang="zh-CN" sz="5400">
                <a:solidFill>
                  <a:schemeClr val="bg1"/>
                </a:solidFill>
              </a:rPr>
              <a:t>10</a:t>
            </a:r>
            <a:r>
              <a:rPr lang="zh-CN" altLang="en-US" sz="5400">
                <a:solidFill>
                  <a:schemeClr val="bg1"/>
                </a:solidFill>
              </a:rPr>
              <a:t>个数再组成新数组进行排序。</a:t>
            </a:r>
            <a:endParaRPr lang="zh-CN" altLang="en-US" sz="5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77343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78740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77343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78613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300" y="7734300"/>
            <a:ext cx="7112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0" y="7861300"/>
            <a:ext cx="3810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3100" y="7734300"/>
            <a:ext cx="711200" cy="711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60900" y="7874000"/>
            <a:ext cx="381000" cy="457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507490" y="746760"/>
            <a:ext cx="22341840" cy="83089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</a:rPr>
              <a:t>    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zh-CN" altLang="en-US" sz="4000">
                <a:solidFill>
                  <a:schemeClr val="bg1"/>
                </a:solidFill>
              </a:rPr>
              <a:t>创建大小为</a:t>
            </a:r>
            <a:r>
              <a:rPr lang="en-US" altLang="zh-CN" sz="4000">
                <a:solidFill>
                  <a:schemeClr val="bg1"/>
                </a:solidFill>
              </a:rPr>
              <a:t>10</a:t>
            </a:r>
            <a:r>
              <a:rPr lang="zh-CN" altLang="en-US" sz="4000">
                <a:solidFill>
                  <a:schemeClr val="bg1"/>
                </a:solidFill>
              </a:rPr>
              <a:t>亿样本和由</a:t>
            </a:r>
            <a:r>
              <a:rPr lang="en-US" altLang="zh-CN" sz="4000">
                <a:solidFill>
                  <a:schemeClr val="bg1"/>
                </a:solidFill>
              </a:rPr>
              <a:t>100</a:t>
            </a:r>
            <a:r>
              <a:rPr lang="zh-CN" altLang="en-US" sz="4000">
                <a:solidFill>
                  <a:schemeClr val="bg1"/>
                </a:solidFill>
              </a:rPr>
              <a:t>个数组构成的二维数组：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</a:rPr>
              <a:t>    samples_part = [[] for _ in range(100)]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</a:rPr>
              <a:t>    n=1000000000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</a:rPr>
              <a:t>    samples = [random.randint(-500000000, 500000000) for _ in range(n)]</a:t>
            </a:r>
            <a:endParaRPr lang="en-US" altLang="zh-CN" sz="4000">
              <a:solidFill>
                <a:schemeClr val="bg1"/>
              </a:solidFill>
            </a:endParaRPr>
          </a:p>
          <a:p>
            <a:endParaRPr lang="en-US" altLang="zh-CN" sz="4000">
              <a:solidFill>
                <a:schemeClr val="bg1"/>
              </a:solidFill>
            </a:endParaRPr>
          </a:p>
          <a:p>
            <a:r>
              <a:rPr lang="zh-CN" altLang="en-US" sz="4000">
                <a:solidFill>
                  <a:schemeClr val="bg1"/>
                </a:solidFill>
              </a:rPr>
              <a:t>把</a:t>
            </a:r>
            <a:r>
              <a:rPr lang="en-US" altLang="zh-CN" sz="4000">
                <a:solidFill>
                  <a:schemeClr val="bg1"/>
                </a:solidFill>
              </a:rPr>
              <a:t>10</a:t>
            </a:r>
            <a:r>
              <a:rPr lang="zh-CN" altLang="en-US" sz="4000">
                <a:solidFill>
                  <a:schemeClr val="bg1"/>
                </a:solidFill>
              </a:rPr>
              <a:t>亿大数组切分为</a:t>
            </a:r>
            <a:r>
              <a:rPr lang="en-US" altLang="zh-CN" sz="4000">
                <a:solidFill>
                  <a:schemeClr val="bg1"/>
                </a:solidFill>
              </a:rPr>
              <a:t>100</a:t>
            </a:r>
            <a:r>
              <a:rPr lang="zh-CN" altLang="en-US" sz="4000">
                <a:solidFill>
                  <a:schemeClr val="bg1"/>
                </a:solidFill>
              </a:rPr>
              <a:t>个小数组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</a:rPr>
              <a:t>    samples_part = [samples[i*10000000:(i+1)*10000000] for i in range(100)]</a:t>
            </a:r>
            <a:endParaRPr lang="en-US" altLang="zh-CN" sz="4000">
              <a:solidFill>
                <a:schemeClr val="bg1"/>
              </a:solidFill>
            </a:endParaRPr>
          </a:p>
          <a:p>
            <a:endParaRPr lang="en-US" altLang="zh-CN" sz="4000">
              <a:solidFill>
                <a:schemeClr val="bg1"/>
              </a:solidFill>
            </a:endParaRPr>
          </a:p>
          <a:p>
            <a:r>
              <a:rPr lang="zh-CN" altLang="en-US" sz="4000">
                <a:solidFill>
                  <a:schemeClr val="bg1"/>
                </a:solidFill>
              </a:rPr>
              <a:t>创建数组存每小数组内的前十大数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</a:rPr>
              <a:t>    top_10_in_each_part = []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</a:rPr>
              <a:t>    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5400">
                <a:solidFill>
                  <a:schemeClr val="bg1"/>
                </a:solidFill>
              </a:rPr>
              <a:t>  </a:t>
            </a:r>
            <a:endParaRPr lang="zh-CN" altLang="en-US" sz="5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77343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7874000"/>
            <a:ext cx="3810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00" y="77343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7861300"/>
            <a:ext cx="3810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300" y="7734300"/>
            <a:ext cx="7112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0" y="7861300"/>
            <a:ext cx="3810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3100" y="7734300"/>
            <a:ext cx="711200" cy="711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60900" y="7874000"/>
            <a:ext cx="381000" cy="457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400800" cy="3251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7010400" cy="2298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10820400"/>
            <a:ext cx="7645400" cy="2895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0" y="9753600"/>
            <a:ext cx="2921000" cy="39624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507490" y="746760"/>
            <a:ext cx="22341840" cy="13233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</a:rPr>
              <a:t>    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all_start_time = time.time()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i=1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for part in samples_part: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    start_time = time.time()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    part_sorted = quick_sort_down(part)           %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选择效率最高的排序进行操作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    end_time = time.time()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    elapsed_time = end_time - start_time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    print(f"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分组排序</a:t>
            </a:r>
            <a:r>
              <a:rPr lang="en-US" altLang="zh-CN" sz="4000">
                <a:solidFill>
                  <a:schemeClr val="bg1"/>
                </a:solidFill>
                <a:sym typeface="+mn-ea"/>
              </a:rPr>
              <a:t>{i}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所用时间：</a:t>
            </a:r>
            <a:r>
              <a:rPr lang="en-US" altLang="zh-CN" sz="4000">
                <a:solidFill>
                  <a:schemeClr val="bg1"/>
                </a:solidFill>
                <a:sym typeface="+mn-ea"/>
              </a:rPr>
              <a:t>{elapsed_time:.2f} 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秒</a:t>
            </a:r>
            <a:r>
              <a:rPr lang="en-US" altLang="zh-CN" sz="4000">
                <a:solidFill>
                  <a:schemeClr val="bg1"/>
                </a:solidFill>
                <a:sym typeface="+mn-ea"/>
              </a:rPr>
              <a:t>") %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打印每次小数组排序所用时间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    top_10_in_each_part.append(part_sorted[0:10])     %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取出前十个数据放入数组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    i+=1</a:t>
            </a:r>
            <a:endParaRPr lang="en-US" altLang="zh-CN" sz="4000">
              <a:solidFill>
                <a:schemeClr val="bg1"/>
              </a:solidFill>
            </a:endParaRPr>
          </a:p>
          <a:p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对新数组进行排序，这次的前</a:t>
            </a:r>
            <a:r>
              <a:rPr lang="en-US" altLang="zh-CN" sz="4000">
                <a:solidFill>
                  <a:schemeClr val="bg1"/>
                </a:solidFill>
                <a:sym typeface="+mn-ea"/>
              </a:rPr>
              <a:t>10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就是全部数组中最大的十个数据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top_10_in_each_part_sorted = quick_sort_down(top_10_in_each_part)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end_time = time.time()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print(top_10_in_each_part_sorted[0:10])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elapsed_time = end_time - all_start_time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print(f"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总排序所用时间：</a:t>
            </a:r>
            <a:r>
              <a:rPr lang="en-US" altLang="zh-CN" sz="4000">
                <a:solidFill>
                  <a:schemeClr val="bg1"/>
                </a:solidFill>
                <a:sym typeface="+mn-ea"/>
              </a:rPr>
              <a:t>{elapsed_time:.2f} 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秒</a:t>
            </a:r>
            <a:r>
              <a:rPr lang="en-US" altLang="zh-CN" sz="4000">
                <a:solidFill>
                  <a:schemeClr val="bg1"/>
                </a:solidFill>
                <a:sym typeface="+mn-ea"/>
              </a:rPr>
              <a:t>")  %</a:t>
            </a:r>
            <a:r>
              <a:rPr lang="zh-CN" altLang="en-US" sz="4000">
                <a:solidFill>
                  <a:schemeClr val="bg1"/>
                </a:solidFill>
                <a:sym typeface="+mn-ea"/>
              </a:rPr>
              <a:t>打印总花费时间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  <a:sym typeface="+mn-ea"/>
              </a:rPr>
              <a:t>    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4000">
                <a:solidFill>
                  <a:schemeClr val="bg1"/>
                </a:solidFill>
              </a:rPr>
              <a:t>    </a:t>
            </a:r>
            <a:endParaRPr lang="en-US" altLang="zh-CN" sz="4000">
              <a:solidFill>
                <a:schemeClr val="bg1"/>
              </a:solidFill>
            </a:endParaRPr>
          </a:p>
          <a:p>
            <a:r>
              <a:rPr lang="en-US" altLang="zh-CN" sz="5400">
                <a:solidFill>
                  <a:schemeClr val="bg1"/>
                </a:solidFill>
              </a:rPr>
              <a:t>  </a:t>
            </a:r>
            <a:endParaRPr lang="zh-CN" altLang="en-US" sz="5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0"/>
            <a:ext cx="131445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300" y="0"/>
            <a:ext cx="13347700" cy="10718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7700" y="4203700"/>
            <a:ext cx="266700" cy="279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54900"/>
            <a:ext cx="8318500" cy="626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1700" y="7620000"/>
            <a:ext cx="9626600" cy="990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0400" y="0"/>
            <a:ext cx="5943600" cy="51943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25390" y="3047365"/>
            <a:ext cx="4956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431*447"/>
  <p:tag name="TABLE_ENDDRAG_RECT" val="311*338*1431*44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4741</Words>
  <Application>WPS 演示</Application>
  <PresentationFormat>On-screen Show (4:3)</PresentationFormat>
  <Paragraphs>300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Arial Unicode MS</vt:lpstr>
      <vt:lpstr>Calibri</vt:lpstr>
      <vt:lpstr>Times New Roman</vt:lpstr>
      <vt:lpstr>Hannotate SC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WPS_1709386352</cp:lastModifiedBy>
  <cp:revision>6</cp:revision>
  <dcterms:created xsi:type="dcterms:W3CDTF">2006-08-16T00:00:00Z</dcterms:created>
  <dcterms:modified xsi:type="dcterms:W3CDTF">2025-03-27T02:22:49Z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40FFA0C274F74EB299DCECF8DC3F1BAF_12</vt:lpwstr>
  </property>
  <property fmtid="{D5CDD505-2E9C-101B-9397-08002B2CF9AE}" pid="3" name="KSOProductBuildVer">
    <vt:lpwstr>2052-12.1.0.20305</vt:lpwstr>
  </property>
</Properties>
</file>